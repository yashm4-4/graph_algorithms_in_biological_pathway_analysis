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6"/>
    <p:restoredTop sz="94667"/>
  </p:normalViewPr>
  <p:slideViewPr>
    <p:cSldViewPr snapToGrid="0" snapToObjects="1">
      <p:cViewPr varScale="1">
        <p:scale>
          <a:sx n="110" d="100"/>
          <a:sy n="11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77818-98D2-814A-BF8E-45663C06A1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A3BDE6-2BB2-BA45-8F91-DD98C4AB5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67D24-D11C-234D-9D99-E36B76576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E1C-38C3-BB40-B63D-26769CD81C9B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3058A-127E-2248-9371-404B954A6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CFBE-AB9B-6947-BF05-E8508CC8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048-3366-4343-B8AB-B3611EEAD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98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B10B-A010-C24A-BDBC-04286FD1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5533B-66DA-F249-9AF0-2D35CF5CB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3CBDD-CADF-C340-8239-5238B2B72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E1C-38C3-BB40-B63D-26769CD81C9B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C994E-E75D-A94F-92AC-22B0F1E3C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A11DE-6697-4344-B9D0-81A555F0C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048-3366-4343-B8AB-B3611EEAD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58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2A2E7-46E0-D349-99C6-9B98AC544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D3D84-3CA6-674D-BBE2-A0D6F4C31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9439C-55BF-B543-88FA-9CB3ABE22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E1C-38C3-BB40-B63D-26769CD81C9B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E34D9-E19C-4543-B38C-B215E679B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08707-7AB8-354B-AD52-6F024178A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048-3366-4343-B8AB-B3611EEAD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1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35EB8-8A6D-1146-8C2D-B6686D4B1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58F77-7962-344C-8AC2-71BE5014B8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6645E-1A05-4648-A662-206B719EA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CE35E-741F-4D4B-BA43-E6915041F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E1C-38C3-BB40-B63D-26769CD81C9B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1C760-83B8-314C-99C3-4B0FFB68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AD982-E888-514D-A31C-BDD080467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048-3366-4343-B8AB-B3611EEAD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65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08B34-B763-A842-9DB3-E806CF72E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2E9C4-EF5C-AB4C-8F9F-7E886A851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7EA6F-5E2B-B640-AF58-AED98D7CF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2BC63D-0786-794E-BC88-D4BA4A1E8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E7690B-6E8C-CB4F-A66B-421635A138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6E805A-5371-EB4C-B588-E39AA27C5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E1C-38C3-BB40-B63D-26769CD81C9B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B0CBEA-1F8B-A349-A0FE-0C4DE49F7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AD1F00-9FC1-344F-9614-B3EDDFD9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048-3366-4343-B8AB-B3611EEAD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141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246ED-354D-7E48-8466-14A033E04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61321-8E4D-3042-833D-C7194D0EE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E1C-38C3-BB40-B63D-26769CD81C9B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A0AF24-95BC-9D42-84CA-22F13CBBF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CC15B-A375-4B4D-B6E6-2E0A1A945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048-3366-4343-B8AB-B3611EEAD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31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328E75-1163-A64E-98F9-DC6C515EE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E1C-38C3-BB40-B63D-26769CD81C9B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79372F-ABE3-154A-808F-632AB4E25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3FA9-0EED-BC4D-A889-E2CD70914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048-3366-4343-B8AB-B3611EEAD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14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C2534-8AC5-4741-B635-EB2A514F9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AE9DE-31EF-A74C-B8B1-887B06013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41DC6-DB20-7941-A29E-6A63981B9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D7D5E0-CB82-054F-8E59-3BDA84B79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E1C-38C3-BB40-B63D-26769CD81C9B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E74C9-282D-8C42-952C-5D0DB86FB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6D2D3-FF84-5A46-970D-8AD42978B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048-3366-4343-B8AB-B3611EEAD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94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FE727-AC8E-1C48-BF76-6D6E6D316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43E302-AD85-1444-87DD-705C85A2C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A4081D-FF72-2C4E-B3DB-1817E1732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D4528-3392-8B42-AFB6-0C12479E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E1C-38C3-BB40-B63D-26769CD81C9B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0DEE5-CFFB-4842-9CB0-195D3B191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72732-668A-AE48-B6CF-ECCFBAE7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048-3366-4343-B8AB-B3611EEAD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48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E0D8-3F11-9449-9CA3-A9DB7698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F7C3A-50CD-DA49-B825-658155017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BF375-4CC3-1F40-AE7B-1D768D84B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E1C-38C3-BB40-B63D-26769CD81C9B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16982-DA2B-7B46-8D60-F36A43138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2AC51-6D26-9540-A150-E36EE7570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048-3366-4343-B8AB-B3611EEAD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64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459B2-B006-F74C-9891-D23994CF7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E3175-3F0B-554F-A88B-144E61C95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C941A-75DA-DC4A-8205-30933FE4E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E1C-38C3-BB40-B63D-26769CD81C9B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159AE-3A17-564E-A9B3-CD8AD20DA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0BEB0-2A7A-1C41-BA88-9CB75C569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048-3366-4343-B8AB-B3611EEAD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57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BCCDE9-1996-2446-A563-7C5F887D4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0E055-5ED9-6D4C-8E6B-A2309E203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A56AF-6BED-D341-81F4-F7DE5CF8D5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0AE1C-38C3-BB40-B63D-26769CD81C9B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48AA6-8BD3-F841-8FEB-23FD0FBAD0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47A1D-AB8C-C546-921F-97BAF4E0F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CD048-3366-4343-B8AB-B3611EEAD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90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obra.github.io/cobrapy/" TargetMode="External"/><Relationship Id="rId2" Type="http://schemas.openxmlformats.org/officeDocument/2006/relationships/hyperlink" Target="https://cytoscape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21241-C40A-6243-9008-E0919D4255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Graph Algorithms</a:t>
            </a:r>
            <a:br>
              <a:rPr lang="en-US" sz="4800" b="1" dirty="0"/>
            </a:br>
            <a:r>
              <a:rPr lang="en-US" sz="4800" b="1" dirty="0"/>
              <a:t>in Metabolic Flux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0AAE99-C9E3-C448-B3E9-03279EB064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Yash </a:t>
            </a:r>
            <a:r>
              <a:rPr lang="en-US" dirty="0" err="1"/>
              <a:t>Meshwaran</a:t>
            </a:r>
            <a:r>
              <a:rPr lang="en-US" dirty="0"/>
              <a:t>, Christian Fernandez, David </a:t>
            </a:r>
            <a:r>
              <a:rPr lang="en-US" dirty="0" err="1"/>
              <a:t>Houshangi</a:t>
            </a:r>
            <a:r>
              <a:rPr lang="en-US" dirty="0"/>
              <a:t>, Kirk Ehmsen</a:t>
            </a:r>
          </a:p>
          <a:p>
            <a:r>
              <a:rPr lang="en-US" dirty="0" err="1"/>
              <a:t>Chem</a:t>
            </a:r>
            <a:r>
              <a:rPr lang="en-US" dirty="0"/>
              <a:t> 274B, Fall 2025</a:t>
            </a:r>
          </a:p>
        </p:txBody>
      </p:sp>
    </p:spTree>
    <p:extLst>
      <p:ext uri="{BB962C8B-B14F-4D97-AF65-F5344CB8AC3E}">
        <p14:creationId xmlns:p14="http://schemas.microsoft.com/office/powerpoint/2010/main" val="71630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0F6DF-49A5-1040-9685-2756F1AA3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Metabolic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EF6B3-151D-BD4E-9CCA-D46A1A7A5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Metabolic networks model material flow in cells, e.g., metabolic structure, potential and capacities</a:t>
            </a:r>
          </a:p>
          <a:p>
            <a:pPr lvl="1"/>
            <a:r>
              <a:rPr lang="en-US" dirty="0"/>
              <a:t>Metabolites and their interconversions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209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C5D5E-C031-7748-93F3-12D180BE3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C5129-8E58-D34D-A3D3-54E710504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Synthetic biology: cellular engineering</a:t>
            </a:r>
          </a:p>
          <a:p>
            <a:pPr lvl="1"/>
            <a:r>
              <a:rPr lang="en-US" dirty="0"/>
              <a:t>Antibodies, industrial enzymes, antibiotics, chemicals</a:t>
            </a:r>
          </a:p>
          <a:p>
            <a:r>
              <a:rPr lang="en-US" dirty="0"/>
              <a:t>Medicine</a:t>
            </a:r>
          </a:p>
          <a:p>
            <a:pPr lvl="1"/>
            <a:r>
              <a:rPr lang="en-US" dirty="0"/>
              <a:t>Antimicrobials that target metabolic differences between human cells and pathogens</a:t>
            </a:r>
          </a:p>
          <a:p>
            <a:pPr lvl="1"/>
            <a:r>
              <a:rPr lang="en-US" dirty="0"/>
              <a:t>Pathway interference for synthetic lethality in cancers</a:t>
            </a:r>
          </a:p>
          <a:p>
            <a:pPr lvl="1"/>
            <a:r>
              <a:rPr lang="en-US" dirty="0"/>
              <a:t>Insight into consequences of gene mutations</a:t>
            </a:r>
          </a:p>
        </p:txBody>
      </p:sp>
    </p:spTree>
    <p:extLst>
      <p:ext uri="{BB962C8B-B14F-4D97-AF65-F5344CB8AC3E}">
        <p14:creationId xmlns:p14="http://schemas.microsoft.com/office/powerpoint/2010/main" val="779944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C6498-6FB8-B240-BCB2-1737886E8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86B99-19C2-1F4C-960A-3A4926A43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Directed graph: metabolites as nodes, </a:t>
            </a:r>
            <a:r>
              <a:rPr lang="en-US" dirty="0" err="1"/>
              <a:t>reacions</a:t>
            </a:r>
            <a:r>
              <a:rPr lang="en-US" dirty="0"/>
              <a:t> as edges</a:t>
            </a:r>
          </a:p>
          <a:p>
            <a:r>
              <a:rPr lang="en-US" dirty="0"/>
              <a:t>Reaction group: reactions as nodes, edge if product of one reaction is substrate of another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784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28C74-1D30-A641-AC43-74BBEFAE8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F4F1E-52FE-F245-998F-C9E790040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 Flow</a:t>
            </a:r>
          </a:p>
          <a:p>
            <a:pPr lvl="1"/>
            <a:r>
              <a:rPr lang="en-US" dirty="0"/>
              <a:t>Models overall network capacity, and how metabolites flow through nodes</a:t>
            </a:r>
          </a:p>
          <a:p>
            <a:pPr lvl="1"/>
            <a:r>
              <a:rPr lang="en-US" dirty="0"/>
              <a:t>Edge weights (directed, weighted graph)</a:t>
            </a:r>
          </a:p>
          <a:p>
            <a:pPr lvl="1"/>
            <a:r>
              <a:rPr lang="en-US" dirty="0"/>
              <a:t>Ford-Fulkerson, Edmonds-Karp algorithms</a:t>
            </a:r>
          </a:p>
          <a:p>
            <a:pPr lvl="2"/>
            <a:r>
              <a:rPr lang="en-US" dirty="0"/>
              <a:t>Source -&gt; Sink (s -&gt; t)</a:t>
            </a:r>
          </a:p>
          <a:p>
            <a:pPr lvl="2"/>
            <a:r>
              <a:rPr lang="en-US" dirty="0"/>
              <a:t>Capacity (u, v)</a:t>
            </a:r>
          </a:p>
          <a:p>
            <a:r>
              <a:rPr lang="en-US" dirty="0"/>
              <a:t>Min Cut</a:t>
            </a:r>
          </a:p>
          <a:p>
            <a:pPr lvl="1"/>
            <a:r>
              <a:rPr lang="en-US" dirty="0"/>
              <a:t>Prim’s &amp; Kruskal’s algorithms</a:t>
            </a:r>
          </a:p>
          <a:p>
            <a:r>
              <a:rPr lang="en-US" dirty="0"/>
              <a:t>Shortest Path (lowest-cost path)</a:t>
            </a:r>
          </a:p>
          <a:p>
            <a:pPr lvl="1"/>
            <a:r>
              <a:rPr lang="en-US" dirty="0"/>
              <a:t>Dijkstra’s&amp; Bellman-Ford algorithms</a:t>
            </a:r>
          </a:p>
        </p:txBody>
      </p:sp>
    </p:spTree>
    <p:extLst>
      <p:ext uri="{BB962C8B-B14F-4D97-AF65-F5344CB8AC3E}">
        <p14:creationId xmlns:p14="http://schemas.microsoft.com/office/powerpoint/2010/main" val="3774388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07E22-491F-0D44-8D95-DDD00C601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F0BDB-AB43-8849-BBEA-66C40A746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Connectivity</a:t>
            </a:r>
          </a:p>
          <a:p>
            <a:r>
              <a:rPr lang="en-US" dirty="0"/>
              <a:t>Centrality</a:t>
            </a:r>
          </a:p>
          <a:p>
            <a:pPr lvl="1"/>
            <a:r>
              <a:rPr lang="en-US" dirty="0"/>
              <a:t>Identify important network nodes (number of direct connections a vertex has)</a:t>
            </a:r>
          </a:p>
          <a:p>
            <a:pPr lvl="1"/>
            <a:r>
              <a:rPr lang="en-US" dirty="0"/>
              <a:t>Degree centrality: nodes with highest number of connection in the network</a:t>
            </a:r>
          </a:p>
          <a:p>
            <a:pPr lvl="2"/>
            <a:r>
              <a:rPr lang="en-US" dirty="0"/>
              <a:t>“hubs”; nodes that can be connected to more metabolites</a:t>
            </a:r>
          </a:p>
          <a:p>
            <a:pPr lvl="1"/>
            <a:r>
              <a:rPr lang="en-US" dirty="0"/>
              <a:t>Betweenness centrality</a:t>
            </a:r>
          </a:p>
          <a:p>
            <a:pPr lvl="2"/>
            <a:r>
              <a:rPr lang="en-US" dirty="0"/>
              <a:t>Highest number of shortest pathways going through them; these nodes participate in more metabolic conversions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Out-degree, in-degree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355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1D8C8-39C8-7442-9B47-B2FA1C47B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2E952-584B-914B-886C-F4BDAB1D2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 scale (genome-scale) networks need decomposition into smaller subsystems</a:t>
            </a:r>
          </a:p>
          <a:p>
            <a:pPr lvl="1"/>
            <a:r>
              <a:rPr lang="en-US" dirty="0"/>
              <a:t>Hierarchical clustering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093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21A82-8FC6-754A-A1C0-ADC95758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460E8-256C-F447-B58E-99B2EE364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Cytoscape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https://cytoscape.org/</a:t>
            </a:r>
            <a:endParaRPr lang="en-US" dirty="0"/>
          </a:p>
          <a:p>
            <a:r>
              <a:rPr lang="en-US" dirty="0" err="1"/>
              <a:t>COBRApy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https://opencobra.github.io/cobrapy/</a:t>
            </a:r>
            <a:endParaRPr lang="en-US" dirty="0"/>
          </a:p>
          <a:p>
            <a:pPr lvl="1"/>
            <a:r>
              <a:rPr lang="en-US" b="1" dirty="0" err="1"/>
              <a:t>CO</a:t>
            </a:r>
            <a:r>
              <a:rPr lang="en-US" dirty="0" err="1"/>
              <a:t>nstraint</a:t>
            </a:r>
            <a:r>
              <a:rPr lang="en-US" dirty="0"/>
              <a:t>-</a:t>
            </a:r>
            <a:r>
              <a:rPr lang="en-US" b="1" dirty="0"/>
              <a:t>B</a:t>
            </a:r>
            <a:r>
              <a:rPr lang="en-US" dirty="0"/>
              <a:t>ased </a:t>
            </a:r>
            <a:r>
              <a:rPr lang="en-US" b="1" dirty="0"/>
              <a:t>R</a:t>
            </a:r>
            <a:r>
              <a:rPr lang="en-US" dirty="0"/>
              <a:t>econstruction and </a:t>
            </a:r>
            <a:r>
              <a:rPr lang="en-US" b="1" dirty="0"/>
              <a:t>A</a:t>
            </a:r>
            <a:r>
              <a:rPr lang="en-US" dirty="0"/>
              <a:t>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692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AD1D-36DF-0448-9F5E-4FCF5E3C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DD53F-1F52-2644-89E0-2D2B70E54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Kubica, J. 2025.  </a:t>
            </a:r>
            <a:r>
              <a:rPr lang="en-US" i="1" dirty="0"/>
              <a:t>Graph Algorithms the Fun Way.  </a:t>
            </a:r>
            <a:r>
              <a:rPr lang="en-US" dirty="0"/>
              <a:t>No Starch Press, San Francisco, CA.</a:t>
            </a:r>
          </a:p>
          <a:p>
            <a:r>
              <a:rPr lang="en-US" dirty="0"/>
              <a:t>Junker, B.H. &amp; Schreiber, F., Eds.  2008.  </a:t>
            </a:r>
            <a:r>
              <a:rPr lang="en-US" i="1" dirty="0"/>
              <a:t>Analysis of Biological Networks</a:t>
            </a:r>
            <a:r>
              <a:rPr lang="en-US" dirty="0"/>
              <a:t>.  John Wiley &amp; Sons, Inc., Hoboken</a:t>
            </a:r>
            <a:r>
              <a:rPr lang="en-US"/>
              <a:t>, NJ.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754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321</Words>
  <Application>Microsoft Macintosh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Graph Algorithms in Metabolic Flux Analysis</vt:lpstr>
      <vt:lpstr>Metabolic Networks</vt:lpstr>
      <vt:lpstr>Applications</vt:lpstr>
      <vt:lpstr>Graph representations</vt:lpstr>
      <vt:lpstr>Algorithms</vt:lpstr>
      <vt:lpstr>Algorithms</vt:lpstr>
      <vt:lpstr>Challenges</vt:lpstr>
      <vt:lpstr>Public Resources</vt:lpstr>
      <vt:lpstr>References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Algorithms in Metabolic Flux Analysis</dc:title>
  <dc:creator>Kirk Ehmsen</dc:creator>
  <cp:lastModifiedBy>Kirk Ehmsen</cp:lastModifiedBy>
  <cp:revision>5</cp:revision>
  <dcterms:created xsi:type="dcterms:W3CDTF">2025-11-30T18:28:21Z</dcterms:created>
  <dcterms:modified xsi:type="dcterms:W3CDTF">2025-11-30T19:17:40Z</dcterms:modified>
</cp:coreProperties>
</file>